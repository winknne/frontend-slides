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188720"/>
            <a:ext cx="5303520" cy="5303520"/>
          </a:xfrm>
          <a:prstGeom prst="ellipse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CONFERENCE PRESENTATION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1E1E"/>
                </a:solidFill>
                <a:latin typeface="Georgia"/>
              </a:rPr>
              <a:t>Tracing Emotion Dynamics
in Academic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2724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4768A"/>
                </a:solidFill>
                <a:latin typeface="Georgia"/>
              </a:rPr>
              <a:t>A Probe into Medical Research Articles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858768"/>
            <a:ext cx="502920" cy="3657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3767328"/>
            <a:ext cx="73152" cy="73152"/>
          </a:xfrm>
          <a:prstGeom prst="ellipse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3584" y="3858768"/>
            <a:ext cx="502920" cy="3657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4164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Georgia"/>
              </a:rPr>
              <a:t>Ren Zhuoxuan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354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Center for Research in Applied Linguistics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Beijing Foreign Studies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  <a:latin typeface="Calibri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92807"/>
            <a:ext cx="10698480" cy="9144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A4B4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7101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1E"/>
                </a:solidFill>
                <a:latin typeface="Calibri"/>
              </a:rPr>
              <a:t>Research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98648"/>
            <a:ext cx="10698480" cy="9144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A4B4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7685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1E"/>
                </a:solidFill>
                <a:latin typeface="Calibri"/>
              </a:rPr>
              <a:t>Literature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04488"/>
            <a:ext cx="10698480" cy="9144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A4B4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8269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1E"/>
                </a:solidFill>
                <a:latin typeface="Calibri"/>
              </a:rPr>
              <a:t>Research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10328"/>
            <a:ext cx="10698480" cy="9144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A4B4"/>
                </a:solidFill>
                <a:latin typeface="Georg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8853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1E"/>
                </a:solidFill>
                <a:latin typeface="Calibri"/>
              </a:rPr>
              <a:t>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916168"/>
            <a:ext cx="10698480" cy="9144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A4B4"/>
                </a:solidFill>
                <a:latin typeface="Georg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9437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1E"/>
                </a:solidFill>
                <a:latin typeface="Calibri"/>
              </a:rPr>
              <a:t>Implications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91440"/>
            <a:ext cx="54864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0" b="1" i="0">
                <a:solidFill>
                  <a:srgbClr val="F5DCE4"/>
                </a:solidFill>
                <a:latin typeface="Georgia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SECTION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13432"/>
            <a:ext cx="548640" cy="45720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1E1E"/>
                </a:solidFill>
                <a:latin typeface="Georgia"/>
              </a:rPr>
              <a:t>Research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What shape does emotion take as it unfolds across a medical research article?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01 —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Motivation &amp;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solidFill>
            <a:srgbClr val="FDF0F3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Emotion arcs have been studied in novels and films — but academic discourse has received little attention from this perspective. Most existing studies represent emotion as simply positive or negative. The VAD dimensional model offers a finer-grained analysis, yet has rarely been applied to academic writing.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423160"/>
            <a:ext cx="594360" cy="594360"/>
          </a:xfrm>
          <a:prstGeom prst="ellipse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RQ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5059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Do medical research articles exhibit identifiable emotion trajectories across the three VAD dimensions (Valence, Arousal, Dominance)?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3474720"/>
            <a:ext cx="594360" cy="594360"/>
          </a:xfrm>
          <a:prstGeom prst="ellipse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RQ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0215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Do these trajectories differ systematically across the four IMRaD sections — Introduction, Methods, Results, and Discussion?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91440"/>
            <a:ext cx="54864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0" b="1" i="0">
                <a:solidFill>
                  <a:srgbClr val="F5DCE4"/>
                </a:solidFill>
                <a:latin typeface="Georgia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SECTION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13432"/>
            <a:ext cx="548640" cy="45720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1E1E"/>
                </a:solidFill>
                <a:latin typeface="Georgia"/>
              </a:rP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What do we know about emotion in academic writing — and where are the gaps?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02 —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What We Know — and the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40680" cy="1417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68A"/>
                </a:solidFill>
                <a:latin typeface="Calibri"/>
              </a:rPr>
              <a:t>1.  Positivity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Studies document a linguistic positivity bias across academic genres — a tendency toward positive expression that has strengthened over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5440680" cy="1417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68A"/>
                </a:solidFill>
                <a:latin typeface="Calibri"/>
              </a:rPr>
              <a:t>2.  Section-Level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Sentiment scores vary across discourse units (sections, moves), suggesting emotion is patterned by communicative function.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5440680" cy="1417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68A"/>
                </a:solidFill>
                <a:latin typeface="Calibri"/>
              </a:rPr>
              <a:t>3.  Methodological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Existing studies assign a single score to a predefined unit — they cannot capture how emotion shifts continuously over an article.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834640"/>
            <a:ext cx="5440680" cy="1417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26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68A"/>
                </a:solidFill>
                <a:latin typeface="Calibri"/>
              </a:rPr>
              <a:t>4.  The VAD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46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Valence (pleasant↔unpleasant) · Arousal (activated↔calm) · Dominance (in-control↔submissive) — rarely applied to academic writing.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07408"/>
            <a:ext cx="11247120" cy="594360"/>
          </a:xfrm>
          <a:prstGeom prst="rect">
            <a:avLst/>
          </a:prstGeom>
          <a:solidFill>
            <a:srgbClr val="FDF0F3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07408"/>
            <a:ext cx="54864" cy="59436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480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768A"/>
                </a:solidFill>
                <a:latin typeface="Calibri"/>
              </a:rPr>
              <a:t>Research Gap:  Emotion arcs have been identified in novels and films — but academic discourse has received little attention, and the VAD model remains underused in genre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91440"/>
            <a:ext cx="54864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0" b="1" i="0">
                <a:solidFill>
                  <a:srgbClr val="F5DCE4"/>
                </a:solidFill>
                <a:latin typeface="Georgia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SECTION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13432"/>
            <a:ext cx="548640" cy="45720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1E1E"/>
                </a:solidFill>
                <a:latin typeface="Georgia"/>
              </a:rPr>
              <a:t>Research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Corpus, lexicon, rolling-window method, and statistical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03 —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Corpus &amp;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768A"/>
                </a:solidFill>
                <a:latin typeface="Calibri"/>
              </a:rPr>
              <a:t>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39496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4768A"/>
                </a:solidFill>
                <a:latin typeface="Georgia"/>
              </a:rPr>
              <a:t>3,600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55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medical research articles
IMRaD structure, auto-extracted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4768A"/>
                </a:solidFill>
                <a:latin typeface="Georgia"/>
              </a:rPr>
              <a:t>13.6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78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total tokens across the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768A"/>
                </a:solidFill>
                <a:latin typeface="Calibri"/>
              </a:rPr>
              <a:t>STATISTICAL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39496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3639312"/>
            <a:ext cx="274320" cy="274320"/>
          </a:xfrm>
          <a:prstGeom prst="ellipse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RQ1:  Spearman's rho — each article vs. corpus median trajectory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233672"/>
            <a:ext cx="274320" cy="274320"/>
          </a:xfrm>
          <a:prstGeom prst="ellipse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RQ2:  Friedman test + Kendall's W (effect size) — section-level VAD differences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98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768A"/>
                </a:solidFill>
                <a:latin typeface="Calibri"/>
              </a:rPr>
              <a:t>ROLLING-WINDOW PROCEDURE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72768"/>
            <a:ext cx="548640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0" y="1691640"/>
            <a:ext cx="347472" cy="347472"/>
          </a:xfrm>
          <a:prstGeom prst="ellipse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1709928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Score each word using the NRC-VAD Lexicon on V, A, D scales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2743200"/>
            <a:ext cx="347472" cy="347472"/>
          </a:xfrm>
          <a:prstGeom prst="ellipse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743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2761488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Slide a 500-token window one token at a time; compute average VAD at each position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3794760"/>
            <a:ext cx="347472" cy="347472"/>
          </a:xfrm>
          <a:prstGeom prst="ellipse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813048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Normalize each article's trajectory to a common scale (0–100%)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4846320"/>
            <a:ext cx="347472" cy="347472"/>
          </a:xfrm>
          <a:prstGeom prst="ellipse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846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864608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Map onto the IMRaD structure → three continuous emotion curves per article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1234440"/>
            <a:ext cx="18288" cy="5120640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91440"/>
            <a:ext cx="54864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0" b="1" i="0">
                <a:solidFill>
                  <a:srgbClr val="F5DCE4"/>
                </a:solidFill>
                <a:latin typeface="Georgia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SECTION FOUR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13432"/>
            <a:ext cx="548640" cy="45720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1E1E"/>
                </a:solidFill>
                <a:latin typeface="Georgia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Valence and Dominance stay positive — but Arousal tells a different, highly consistent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04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VAD Trajectories: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03520" cy="480060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Georgia"/>
              </a:rPr>
              <a:t>Valence &amp; Dominance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17320"/>
            <a:ext cx="822960" cy="256032"/>
          </a:xfrm>
          <a:prstGeom prst="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4768A"/>
                </a:solidFill>
                <a:latin typeface="Calibri"/>
              </a:rPr>
              <a:t>V &amp;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737360"/>
            <a:ext cx="489204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87451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Both remain positive throughout — consistent with the documented positivity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Cross-article shape consistency is 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083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Median Spearman's ρ for Valence = 0.064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611880"/>
            <a:ext cx="4937760" cy="594360"/>
          </a:xfrm>
          <a:prstGeom prst="rect">
            <a:avLst/>
          </a:prstGeom>
          <a:solidFill>
            <a:srgbClr val="FDF0F3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68A"/>
                </a:solidFill>
                <a:latin typeface="Calibri"/>
              </a:rPr>
              <a:t>Individual articles do NOT share a common trajectory shape on V and D. No identifiable arc.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34440"/>
            <a:ext cx="5303520" cy="480060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Georgia"/>
              </a:rPr>
              <a:t>Arousal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61320" y="1417320"/>
            <a:ext cx="822960" cy="256032"/>
          </a:xfrm>
          <a:prstGeom prst="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14173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4768A"/>
                </a:solidFill>
                <a:latin typeface="Calibri"/>
              </a:rPr>
              <a:t>A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392" y="1737360"/>
            <a:ext cx="489204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87451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Remains negative throughout — calm, low-activation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4414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Traces a clear fall-rise arc: lowest in Methods, peak in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0083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Median Spearman's ρ = 0.758 — strong cross-article consistency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3611880"/>
            <a:ext cx="4937760" cy="594360"/>
          </a:xfrm>
          <a:prstGeom prst="rect">
            <a:avLst/>
          </a:prstGeom>
          <a:solidFill>
            <a:srgbClr val="FDF0F3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67588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68A"/>
                </a:solidFill>
                <a:latin typeface="Calibri"/>
              </a:rPr>
              <a:t>This arc is reliably reproduced across individual articles, aligning closely with IMRaD boundaries.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04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The Arousal Arc Across IMRaD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04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Section-Level Differences (Friedman Tests)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2144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57200" y="91440"/>
            <a:ext cx="54864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0" b="1" i="0">
                <a:solidFill>
                  <a:srgbClr val="F5DCE4"/>
                </a:solidFill>
                <a:latin typeface="Georgia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SECTION FIVE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13432"/>
            <a:ext cx="548640" cy="45720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50592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1E1E"/>
                </a:solidFill>
                <a:latin typeface="Georgia"/>
              </a:rPr>
              <a:t>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What these findings mean for theory, methodology, and language teaching.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4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4768A"/>
                </a:solidFill>
                <a:latin typeface="Calibri"/>
              </a:rPr>
              <a:t>05 —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164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Calibr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Georgia"/>
              </a:rPr>
              <a:t>Three Layers of Significance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6424"/>
            <a:ext cx="457200" cy="41148"/>
          </a:xfrm>
          <a:prstGeom prst="rect">
            <a:avLst/>
          </a:prstGeom>
          <a:solidFill>
            <a:srgbClr val="E8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4846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Calibri"/>
              </a:rPr>
              <a:t>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THEORETICAL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50008"/>
            <a:ext cx="338328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VAD dimensions capture distinct aspects of affect — they are not interchangeable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Arousal is sensitive to genre-internal functional variation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867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Dimensional models offer a richer lens than polarity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234440"/>
            <a:ext cx="3657600" cy="4846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371600"/>
            <a:ext cx="502920" cy="502920"/>
          </a:xfrm>
          <a:prstGeom prst="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Calibri"/>
              </a:rP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METHODOLOGICAL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350008"/>
            <a:ext cx="338328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Rolling window + time normalization + IMRaD mapping = replicable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3697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Applicable across disciplines, genres, historical periods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867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Adapts the emotion-arc approach from fiction to academic discourse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234440"/>
            <a:ext cx="3657600" cy="4846320"/>
          </a:xfrm>
          <a:prstGeom prst="rect">
            <a:avLst/>
          </a:prstGeom>
          <a:solidFill>
            <a:srgbClr val="FDFBF9"/>
          </a:solidFill>
          <a:ln w="6350">
            <a:solidFill>
              <a:srgbClr val="F0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58200" y="1371600"/>
            <a:ext cx="502920" cy="502920"/>
          </a:xfrm>
          <a:prstGeom prst="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Calibri"/>
              </a:rPr>
              <a:t>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68A"/>
                </a:solidFill>
                <a:latin typeface="Calibri"/>
              </a:rPr>
              <a:t>PEDAGOGICAL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2350008"/>
            <a:ext cx="3383280" cy="13716"/>
          </a:xfrm>
          <a:prstGeom prst="rect">
            <a:avLst/>
          </a:prstGeom>
          <a:solidFill>
            <a:srgbClr val="F0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Different IMRaD sections carry different affective expectations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23697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Guide students to manage emotional resources deliberately across sections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9867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›  High-contribution words → basis for an ESP-oriented pedagogical lexicon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5756" y="65105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corpus.bfsu.edu.cn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0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"/>
            <a:ext cx="3063240" cy="3931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2976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1E1E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30368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Any questions, comments, or suggestions are most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Ren Zhuoxuan  ·  corpus.bfsu.edu.cn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